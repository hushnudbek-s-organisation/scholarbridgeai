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Sessiyalar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7–13 sen</c:v>
                </c:pt>
                <c:pt idx="1">
                  <c:v>14–20 sen</c:v>
                </c:pt>
                <c:pt idx="2">
                  <c:v>21–27 sen</c:v>
                </c:pt>
                <c:pt idx="3">
                  <c:v>28 sen–4 okt</c:v>
                </c:pt>
                <c:pt idx="4">
                  <c:v>5–11 okt</c:v>
                </c:pt>
                <c:pt idx="5">
                  <c:v>12–18 okt</c:v>
                </c:pt>
                <c:pt idx="6">
                  <c:v>19 okt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79</c:v>
                </c:pt>
                <c:pt idx="1">
                  <c:v>155</c:v>
                </c:pt>
                <c:pt idx="2">
                  <c:v>387</c:v>
                </c:pt>
                <c:pt idx="3">
                  <c:v>458</c:v>
                </c:pt>
                <c:pt idx="4">
                  <c:v>115</c:v>
                </c:pt>
                <c:pt idx="5">
                  <c:v>326</c:v>
                </c:pt>
                <c:pt idx="6">
                  <c:v>44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1B2A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4E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7C8A9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Ochilish: biz chet elda o'qish yo'lini bitta uzluksiz mahsulotga yig'ayotgan platformamiz. 30 soniya: kim uchun, nima muammo, nima qildik, qayerdaman va nima so'rayapman.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Muammo 4 qismga bo'linadi. Har biriga mahsulotda aniq javob bor. Muhim: bu bozor 'yangi' emas — u shunchaki hali dasturiy ta'minot bilan hal qilinmagan.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 bir karta — saytda ishlaydigan alohida bo'lim. Muhim farq: moslik 'ehtimol' emas, o'lchov; ma'lumot esa manba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8 bosqich — saytdagi navigatsiya guruhlari bilan bir xil. Ko'rsatish: bitta o'quvchi profilini to'ldirgach, bosqich o'zi siljiydi.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Rasmlar — saytdagi kampus fotolari (Wikimedia Commons). Raqamlar jonli bazadan: 200 universitet, 2 848 program, 305 grant, 40 mamlakat.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slayd investor uchun eng muhim farq: raqobatchilar 'AI bashorat' bilan sotadi, biz esa faqat tekshiriladigan narsani ko'rsatamiz. Bu uzoq muddatda ishonchni ushlab turadi.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Texnik investor uchun: provider-agnostic router, kvota, xarajat hisobi va shifrlangan kalitlar. Hozir production'da Groq ishlaydi, lekin almashtirish bir tugma.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O'zbekistonda Telegram — asosiy o'quv kanali. Shuning uchun bot mahsulotning 'ikkinchi eshigi', alohida mahsulot emas: kod ham, qoidalar ham bir 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Narxlar app_config'dan boshqariladi (89k / 219k / 999k). Bepul qatlam ataylab saxiy: maqsad — odam mahsulotni ichidan ko'rsin, keyin to'lasin. Referal: 5 faol referal = 30 kun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Bozorni ataylab konservativ ko'rsataman: TAM/SAM uchinchi tomon taxminlari. SOM esa bizning 3 yillik rejamiz va u ARR bilan bog'langan.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Halollik muhim: 103 tashrifchi — bu test, traction emas. Lekin qaytish (haftasiga 300+ sessiya) mahsulot ishlayotganini ko'rsatadi. Keyingi bosqich — to'lov konversiyasi.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Raqobat jadvali ataylab ehtiyotkor: 'qisman' deb belgilangan joylar bor. Bizning farq — vertikal integratsiya va ishonch qatlami, narx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Kanallar mahsulot ichiga qurilgan: bot, referal, guruh hisoblari, kontent. Pulli reklamaga bog'liq emas — bu pre-seed bosqichda muhim.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kunlik reja aniq o'lchanadi. Har bir bosqichda bitta asosiy raqam bor — va u investor bilan kelishilgan bo'ladi.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yerda asoschi ismi, tajribasi va foto qo'shilishi kerak. Hozir slayd ataylab faqat faktlarga tayanadi.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yerga aniq summa va aloqa ma'lumotlari qo'yiladi. Hozir ko'rsatilgan raqamlar 90 kunlik reja bilan izchil: 1 500 to'lovchi × 89 000 × 12 ≈ 1,6 mlrd so'm.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mit.jpg"/>
          <p:cNvPicPr>
            <a:picLocks noChangeAspect="1"/>
          </p:cNvPicPr>
          <p:nvPr/>
        </p:nvPicPr>
        <p:blipFill>
          <a:blip r:embed="rId2"/>
          <a:srcRect t="7706" b="77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4754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1872" y="603504"/>
            <a:ext cx="4114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ScholarBridgeAI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15984" y="658368"/>
            <a:ext cx="1335024" cy="292608"/>
          </a:xfrm>
          <a:prstGeom prst="roundRect">
            <a:avLst>
              <a:gd name="adj" fmla="val 50000"/>
            </a:avLst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5984" y="658368"/>
            <a:ext cx="13350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PITCH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60736" y="6583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4A6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60736" y="658368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B94E"/>
                </a:solidFill>
                <a:latin typeface="Arial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12848"/>
            <a:ext cx="8778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Chet elda o'qish yo'li 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endi bitta platformada.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224528"/>
            <a:ext cx="1005840" cy="45720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498848"/>
            <a:ext cx="7589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5DFEE"/>
                </a:solidFill>
                <a:latin typeface="Arial"/>
              </a:rPr>
              <a:t>O'zbekiston va Markaziy Osiyo o'quvchilari uchun AI asosidagi ta'lim platformasi: universitet va grant qidiruvidan qabul, viza va jo'nashgacha.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742432"/>
            <a:ext cx="3262579" cy="365760"/>
          </a:xfrm>
          <a:prstGeom prst="roundRect">
            <a:avLst>
              <a:gd name="adj" fmla="val 50000"/>
            </a:avLst>
          </a:prstGeom>
          <a:solidFill>
            <a:srgbClr val="2A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742432"/>
            <a:ext cx="32625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200 universitet · 40 mamlakat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39819" y="5742432"/>
            <a:ext cx="1623974" cy="365760"/>
          </a:xfrm>
          <a:prstGeom prst="roundRect">
            <a:avLst>
              <a:gd name="adj" fmla="val 50000"/>
            </a:avLst>
          </a:prstGeom>
          <a:solidFill>
            <a:srgbClr val="2A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9819" y="5742432"/>
            <a:ext cx="162397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2 848 program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82665" y="5742432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2A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2665" y="5742432"/>
            <a:ext cx="12143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305 grant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15860" y="5742432"/>
            <a:ext cx="2238451" cy="365760"/>
          </a:xfrm>
          <a:prstGeom prst="roundRect">
            <a:avLst>
              <a:gd name="adj" fmla="val 50000"/>
            </a:avLst>
          </a:prstGeom>
          <a:solidFill>
            <a:srgbClr val="2A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5860" y="5742432"/>
            <a:ext cx="22384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3 til: en / uz / 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F"/>
                </a:solidFill>
                <a:latin typeface="Arial"/>
              </a:rPr>
              <a:t>Taqdimot  ·  2026-yil oktyabr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4367" y="6327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F"/>
                </a:solidFill>
                <a:latin typeface="Arial"/>
              </a:rPr>
              <a:t>scholarbridge.ai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mpus_oxford.jpg"/>
          <p:cNvPicPr>
            <a:picLocks noChangeAspect="1"/>
          </p:cNvPicPr>
          <p:nvPr/>
        </p:nvPicPr>
        <p:blipFill>
          <a:blip r:embed="rId2"/>
          <a:srcRect l="14370" r="14370"/>
          <a:stretch>
            <a:fillRect/>
          </a:stretch>
        </p:blipFill>
        <p:spPr>
          <a:xfrm>
            <a:off x="7882127" y="0"/>
            <a:ext cx="430956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82127" y="0"/>
            <a:ext cx="4309567" cy="6858000"/>
          </a:xfrm>
          <a:prstGeom prst="rect">
            <a:avLst/>
          </a:prstGeom>
          <a:solidFill>
            <a:srgbClr val="1B2A4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084831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100 000+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926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5DFEE"/>
                </a:solidFill>
                <a:latin typeface="Arial"/>
              </a:rPr>
              <a:t>o'zbek talabasi bugun xorijda tahsil olmoqda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3840480"/>
            <a:ext cx="566928" cy="36576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4041648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7DC"/>
                </a:solidFill>
                <a:latin typeface="Arial"/>
              </a:rPr>
              <a:t>Har yili 20–38 ming yangi talaba qo'shiladi.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F9EB6"/>
                </a:solidFill>
                <a:latin typeface="Arial"/>
              </a:rPr>
              <a:t>Manba: UNESCO UIS; O'zbekiston statistika qo'mitasi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MUAMMO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097280"/>
            <a:ext cx="667512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Chet elda o'qish yo'li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tarqoq va qimmat.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6583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O'quvchi bir vaqtning o'zida 15–20 sayt, 5 ta jadval va bir nechta maslahatchi bilan ishlashga majbur. Natija — o'tkazib yuborilgan muddatlar va noto'g'ri tanlov.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1C7293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312724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Ma'lumot tarqoq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3419856"/>
            <a:ext cx="6053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Talablar, to'lovlar va grant muddatlari yuzlab xorijiy saytlarda — ko'pincha eskirgan.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913632"/>
            <a:ext cx="658368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5020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1C7293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3904487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SOP to'sig'i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4197096"/>
            <a:ext cx="6053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Ingliz tilida kuchli motivatsion xat — jarayonning eng qiyin va hal qiluvchi qadami.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690872"/>
            <a:ext cx="658368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2744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1C7293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4681727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Qimmat maslahat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5" y="4974336"/>
            <a:ext cx="6053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Agentliklar $500–2 000 so'raydi; ko'p oilalar uchun bu imkonsiz.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468112"/>
            <a:ext cx="658368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50468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1C7293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5" y="5458967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Muddatlar o'tib ketadi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5" y="5751575"/>
            <a:ext cx="6053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Bir nechta arizani parallel yuritganda hujjat, sana va imkoniyat yo'qoladi.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245351"/>
            <a:ext cx="6583680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E8B94E"/>
                </a:solidFill>
                <a:latin typeface="Arial"/>
              </a:rPr>
              <a:t>YECHIM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969264"/>
            <a:ext cx="475488" cy="41148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42415"/>
            <a:ext cx="786384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Bitta profil. Butun sayohat.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5E6"/>
                </a:solidFill>
                <a:latin typeface="Arial"/>
              </a:rPr>
              <a:t>Bitta hisob — birinchi qidiruvdan jo'nash kunigacha. Har bir tavsiya o'quvchining haqiqiy ma'lumotiga tayanadi, umumiy maslahatga emas.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61488"/>
            <a:ext cx="3529584" cy="1444752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3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45720" cy="1444752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443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82112"/>
            <a:ext cx="3026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Moslik dvigateli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93008"/>
            <a:ext cx="3026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9C7DC"/>
                </a:solidFill>
                <a:latin typeface="Arial"/>
              </a:rPr>
              <a:t>GPA, test, budjet va til talablari bo'yicha 4 alohida o'lchov — qabul ehtimoli emas.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61488"/>
            <a:ext cx="3529584" cy="1444752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3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761488"/>
            <a:ext cx="45720" cy="14447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9443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82112"/>
            <a:ext cx="3026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Grant katalogi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93008"/>
            <a:ext cx="3026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9C7DC"/>
                </a:solidFill>
                <a:latin typeface="Arial"/>
              </a:rPr>
              <a:t>305 grant: qamrov, talablar, muddat va rasmiy manba bilan.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761488"/>
            <a:ext cx="3529584" cy="1444752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3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2761488"/>
            <a:ext cx="45720" cy="1444752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9443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182112"/>
            <a:ext cx="3026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AI studiya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493008"/>
            <a:ext cx="3026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9C7DC"/>
                </a:solidFill>
                <a:latin typeface="Arial"/>
              </a:rPr>
              <a:t>SOP drafti, insho tekshiruvi, profil baholash va rubrika bo'yicha fikr.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70832"/>
            <a:ext cx="3529584" cy="1444752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3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370832"/>
            <a:ext cx="45720" cy="14447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55371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791456"/>
            <a:ext cx="3026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Ariza boshqaruvi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102352"/>
            <a:ext cx="3026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9C7DC"/>
                </a:solidFill>
                <a:latin typeface="Arial"/>
              </a:rPr>
              <a:t>Har bir ariza uchun talablar, hujjatlar, topshirish va natija.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370832"/>
            <a:ext cx="3529584" cy="1444752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3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370832"/>
            <a:ext cx="45720" cy="1444752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55371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791456"/>
            <a:ext cx="3026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Viza tayyorlovi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102352"/>
            <a:ext cx="3026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9C7DC"/>
                </a:solidFill>
                <a:latin typeface="Arial"/>
              </a:rPr>
              <a:t>Ovozli konsullik intervyusi simulyatori va mamlakat talablari.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4370832"/>
            <a:ext cx="3529584" cy="1444752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3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2" y="4370832"/>
            <a:ext cx="45720" cy="14447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4553712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4791456"/>
            <a:ext cx="3026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Telegram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5102352"/>
            <a:ext cx="302666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9C7DC"/>
                </a:solidFill>
                <a:latin typeface="Arial"/>
              </a:rPr>
              <a:t>Bot va Mini App: eslatmalar, qidiruv va AI maslahatchi — bir xil hisob.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7087" y="62727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9EB6"/>
                </a:solidFill>
                <a:latin typeface="Arial"/>
              </a:rPr>
              <a:t>Bugun jonli: 14 bo'lim · 3 til · 98 jadval · Payme/Click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MAHSULOT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24128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Sakkiz bosqich — bitta uzluksiz yo'l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Platforma o'quvchining o'z ma'lumotidan qaysi bosqichda turganini avtomatik hisoblaydi — hech narsa qo'lda belgilanmaydi.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87168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487168"/>
            <a:ext cx="2651760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706624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C7293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44368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Kashf etish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55264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200 universitet va 2 848 program: davlat, daraja, yo'nalish va to'lov bo'yicha filtr.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42132" y="3163824"/>
            <a:ext cx="118872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008" y="2487168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487168"/>
            <a:ext cx="2651760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2706624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C7293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2944368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Moslashtirish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3255264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Profilga moslik 4 o'lchovda; har bir natijada manba va tekshirilgan sana.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76772" y="3163824"/>
            <a:ext cx="118872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2487168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2487168"/>
            <a:ext cx="2651760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706624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C7293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944368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Tayyorlanish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255264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10 fazali o'quv reja, test rejasi, hujjatlar ro'yxati va keyingi qadam.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11412" y="3163824"/>
            <a:ext cx="118872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62288" y="2487168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62288" y="2487168"/>
            <a:ext cx="2651760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2706624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C7293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2944368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Ariza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255264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Har bir ariza uchun alohida ish maydoni: talablar, hujjatlar, insholar, topshirish.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169664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169664"/>
            <a:ext cx="2651760" cy="45720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38912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B8A6B"/>
                </a:solidFill>
                <a:latin typeface="Arial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626864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Qabul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9377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Takliflar, shartlar va qarorlar bitta joyda.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342132" y="4846320"/>
            <a:ext cx="118872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93008" y="4169664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3008" y="4169664"/>
            <a:ext cx="2651760" cy="45720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2464" y="438912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B8A6B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12464" y="4626864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Moliyalashtirish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4" y="49377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To'lov rejasi, grant qamrovi va moliyaviy bo'shliq hisobi.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176772" y="4846320"/>
            <a:ext cx="118872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27648" y="4169664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27648" y="4169664"/>
            <a:ext cx="2651760" cy="45720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438912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B8A6B"/>
                </a:solidFill>
                <a:latin typeface="Arial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4626864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Viza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4" y="49377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Mamlakat talablari, hujjat matritsasi va intervyu simulyatori.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9011412" y="4846320"/>
            <a:ext cx="118872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162288" y="4169664"/>
            <a:ext cx="2651760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62288" y="4169664"/>
            <a:ext cx="2651760" cy="45720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81744" y="438912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B8A6B"/>
                </a:solidFill>
                <a:latin typeface="Arial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81744" y="4626864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Jo'nash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81744" y="49377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75569"/>
                </a:solidFill>
                <a:latin typeface="Arial"/>
              </a:rPr>
              <a:t>Parvoz, turar joy, sug'urta va 7/30/90 kunlik kelish ro'yxati.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742432"/>
            <a:ext cx="10874959" cy="658368"/>
          </a:xfrm>
          <a:prstGeom prst="roundRect">
            <a:avLst>
              <a:gd name="adj" fmla="val 2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" y="5742432"/>
            <a:ext cx="1028974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Arial"/>
              </a:rPr>
              <a:t>Bir xil ma'lumot hamma joyda: bir marta kiritilgan profil butun yo'l davomida qayta ishlatiladi.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MAHSULOT · KATALOG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05840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Ma'lumot — to'qilgan emas, manbali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Har bir yozuv rasmiy manbaga bog'langan va oxirgi tekshirilgan sana bilan ko'rsatiladi. Eskirgan ma'lumot «tekshirilmagan» deb belgilanadi.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87168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7293"/>
                </a:solidFill>
                <a:latin typeface="Georgia"/>
              </a:rP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A9E"/>
                </a:solidFill>
                <a:latin typeface="Arial"/>
              </a:rPr>
              <a:t>universitet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487168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61518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7293"/>
                </a:solidFill>
                <a:latin typeface="Georgia"/>
              </a:rPr>
              <a:t>2 848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A9E"/>
                </a:solidFill>
                <a:latin typeface="Arial"/>
              </a:rPr>
              <a:t>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2487168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61518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8A6B"/>
                </a:solidFill>
                <a:latin typeface="Georgia"/>
              </a:rPr>
              <a:t>305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A9E"/>
                </a:solidFill>
                <a:latin typeface="Arial"/>
              </a:rPr>
              <a:t>grant va stipendiya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2487168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61518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Georgia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A9E"/>
                </a:solidFill>
                <a:latin typeface="Arial"/>
              </a:rPr>
              <a:t>mamlakat</a:t>
            </a:r>
          </a:p>
        </p:txBody>
      </p:sp>
      <p:pic>
        <p:nvPicPr>
          <p:cNvPr id="18" name="Picture 17" descr="campus_cambridge.jpg"/>
          <p:cNvPicPr>
            <a:picLocks noChangeAspect="1"/>
          </p:cNvPicPr>
          <p:nvPr/>
        </p:nvPicPr>
        <p:blipFill>
          <a:blip r:embed="rId2"/>
          <a:srcRect t="11108" b="11108"/>
          <a:stretch>
            <a:fillRect/>
          </a:stretch>
        </p:blipFill>
        <p:spPr>
          <a:xfrm>
            <a:off x="658368" y="3730752"/>
            <a:ext cx="3493008" cy="18105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04672" y="385876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858768"/>
            <a:ext cx="6583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Arial"/>
              </a:rPr>
              <a:t>QS #6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632704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Arial"/>
              </a:rPr>
              <a:t>Kembrij universiteti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870448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A9E"/>
                </a:solidFill>
                <a:latin typeface="Arial"/>
              </a:rPr>
              <a:t>Buyuk Britaniya</a:t>
            </a:r>
          </a:p>
        </p:txBody>
      </p:sp>
      <p:pic>
        <p:nvPicPr>
          <p:cNvPr id="23" name="Picture 22" descr="campus_oxford.jpg"/>
          <p:cNvPicPr>
            <a:picLocks noChangeAspect="1"/>
          </p:cNvPicPr>
          <p:nvPr/>
        </p:nvPicPr>
        <p:blipFill>
          <a:blip r:embed="rId3"/>
          <a:srcRect t="27146" b="27146"/>
          <a:stretch>
            <a:fillRect/>
          </a:stretch>
        </p:blipFill>
        <p:spPr>
          <a:xfrm>
            <a:off x="4315968" y="3730752"/>
            <a:ext cx="3493008" cy="18105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462272" y="385876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3858768"/>
            <a:ext cx="6583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Arial"/>
              </a:rPr>
              <a:t>QS #4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5632704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Arial"/>
              </a:rPr>
              <a:t>Oksford universiteti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5870448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A9E"/>
                </a:solidFill>
                <a:latin typeface="Arial"/>
              </a:rPr>
              <a:t>Buyuk Britaniya</a:t>
            </a:r>
          </a:p>
        </p:txBody>
      </p:sp>
      <p:pic>
        <p:nvPicPr>
          <p:cNvPr id="28" name="Picture 27" descr="campus_eth.jpg"/>
          <p:cNvPicPr>
            <a:picLocks noChangeAspect="1"/>
          </p:cNvPicPr>
          <p:nvPr/>
        </p:nvPicPr>
        <p:blipFill>
          <a:blip r:embed="rId4"/>
          <a:srcRect t="11087" b="11087"/>
          <a:stretch>
            <a:fillRect/>
          </a:stretch>
        </p:blipFill>
        <p:spPr>
          <a:xfrm>
            <a:off x="7973568" y="3730752"/>
            <a:ext cx="3493008" cy="181051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119872" y="385876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3858768"/>
            <a:ext cx="6583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Arial"/>
              </a:rPr>
              <a:t>QS #7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5632704"/>
            <a:ext cx="3493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Arial"/>
              </a:rPr>
              <a:t>ETH Zürich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870448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A9E"/>
                </a:solidFill>
                <a:latin typeface="Arial"/>
              </a:rPr>
              <a:t>Shveytsariya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199632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Foto: Wikimedia Commons — sayt katalogidagi rasmlar. Ma'lumot: platforma katalogi, 2026-10.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hero_mit.jpg"/>
          <p:cNvPicPr>
            <a:picLocks noChangeAspect="1"/>
          </p:cNvPicPr>
          <p:nvPr/>
        </p:nvPicPr>
        <p:blipFill>
          <a:blip r:embed="rId2"/>
          <a:srcRect l="35135" r="35135"/>
          <a:stretch>
            <a:fillRect/>
          </a:stretch>
        </p:blipFill>
        <p:spPr>
          <a:xfrm>
            <a:off x="9125712" y="0"/>
            <a:ext cx="3065983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25712" y="0"/>
            <a:ext cx="3065983" cy="6858000"/>
          </a:xfrm>
          <a:prstGeom prst="rect">
            <a:avLst/>
          </a:prstGeom>
          <a:solidFill>
            <a:srgbClr val="1B2A4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54896" y="51206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C"/>
                </a:solidFill>
                <a:latin typeface="Arial"/>
              </a:rPr>
              <a:t>MIT — katalogdagi 200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C"/>
                </a:solidFill>
                <a:latin typeface="Arial"/>
              </a:rPr>
              <a:t>universitetdan biri.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E8B94E"/>
                </a:solidFill>
                <a:latin typeface="Arial"/>
              </a:rPr>
              <a:t>FARQ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97280"/>
            <a:ext cx="731520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Ishonch — mahsulotning o'zi.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5E6"/>
                </a:solidFill>
                <a:latin typeface="Arial"/>
              </a:rPr>
              <a:t>Ta'lim bozorida eng qimmat narsa — noto'g'ri ma'lumot. Biz to'rt qoidani kodda majburlaymiz, marketingda emas.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95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45536"/>
            <a:ext cx="19385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Har faktda manba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673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9C7DC"/>
                </a:solidFill>
                <a:latin typeface="Arial"/>
              </a:rPr>
              <a:t>Har bir talab yonida rasmiy havola va oxirgi tekshirilgan sana. Manbasiz yozuv «ko'rsatilmagan» bo'lib qoladi.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8336" y="2926080"/>
            <a:ext cx="10972" cy="2194560"/>
          </a:xfrm>
          <a:prstGeom prst="rect">
            <a:avLst/>
          </a:prstGeom>
          <a:solidFill>
            <a:srgbClr val="3A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28895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145536"/>
            <a:ext cx="19385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O'ylab topilgan ehtimol yo'q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7673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9C7DC"/>
                </a:solidFill>
                <a:latin typeface="Arial"/>
              </a:rPr>
              <a:t>Qabul ehtimoli foizi ko'rsatilmaydi: tasdiqlangan metodologiya bo'lmaguncha u o'chirilgan.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26080"/>
            <a:ext cx="10972" cy="2194560"/>
          </a:xfrm>
          <a:prstGeom prst="rect">
            <a:avLst/>
          </a:prstGeom>
          <a:solidFill>
            <a:srgbClr val="3A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28895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145536"/>
            <a:ext cx="19385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AI javobi yorliqlanadi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7673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9C7DC"/>
                </a:solidFill>
                <a:latin typeface="Arial"/>
              </a:rPr>
              <a:t>verified_fact · user_provided · ai_suggestion · uncertain — har bir gap qayerdan kelgani ko'rinadi.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95744" y="2926080"/>
            <a:ext cx="10972" cy="2194560"/>
          </a:xfrm>
          <a:prstGeom prst="rect">
            <a:avLst/>
          </a:prstGeom>
          <a:solidFill>
            <a:srgbClr val="3A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8895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E8B94E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145536"/>
            <a:ext cx="19385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Maxfiylik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767328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9C7DC"/>
                </a:solidFill>
                <a:latin typeface="Arial"/>
              </a:rPr>
              <a:t>Har bir so'rov egasi serverda tekshiriladi; AI kalitlari AES-256 bilan shifrlangan va hech qachon javobda chiqmaydi.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321808"/>
            <a:ext cx="7680960" cy="841248"/>
          </a:xfrm>
          <a:prstGeom prst="roundRect">
            <a:avLst>
              <a:gd name="adj" fmla="val 12000"/>
            </a:avLst>
          </a:prstGeom>
          <a:solidFill>
            <a:srgbClr val="24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321808"/>
            <a:ext cx="45720" cy="841248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321808"/>
            <a:ext cx="7132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«Bilmagan narsamizni to'qimaymiz.»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579729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9EB6"/>
                </a:solidFill>
                <a:latin typeface="Arial"/>
              </a:rPr>
              <a:t>— mahsulot qoidasi, avtomatik testlar bilan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33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9EB6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9EB6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ARXITEKTURA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5852160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AI — mahsulot ichida,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lekin nazorat ostida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Bitta umumiy «chat» emas: har bir vazifa o'z provayderiga, o'z byudjeti va o'z yorlig'i bilan boradi.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99232"/>
            <a:ext cx="5358384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090672"/>
            <a:ext cx="4901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Foydalanuvchi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46703"/>
            <a:ext cx="4901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75569"/>
                </a:solidFill>
                <a:latin typeface="Arial"/>
              </a:rPr>
              <a:t>sayt · Telegram bot · Mini App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64408" y="3694176"/>
            <a:ext cx="146304" cy="128016"/>
          </a:xfrm>
          <a:prstGeom prst="rightArrow">
            <a:avLst/>
          </a:prstGeom>
          <a:solidFill>
            <a:srgbClr val="BF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3822191"/>
            <a:ext cx="5358384" cy="658368"/>
          </a:xfrm>
          <a:prstGeom prst="roundRect">
            <a:avLst>
              <a:gd name="adj" fmla="val 10000"/>
            </a:avLst>
          </a:prstGeom>
          <a:solidFill>
            <a:srgbClr val="E8F2F7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1"/>
            <a:ext cx="4901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7293"/>
                </a:solidFill>
                <a:latin typeface="Arial"/>
              </a:rPr>
              <a:t>Next.js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69663"/>
            <a:ext cx="4901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75569"/>
                </a:solidFill>
                <a:latin typeface="Arial"/>
              </a:rPr>
              <a:t>sessiya + profil egaligi + kunlik kvota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4408" y="4517136"/>
            <a:ext cx="146304" cy="128016"/>
          </a:xfrm>
          <a:prstGeom prst="rightArrow">
            <a:avLst/>
          </a:prstGeom>
          <a:solidFill>
            <a:srgbClr val="BF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4645152"/>
            <a:ext cx="5358384" cy="658368"/>
          </a:xfrm>
          <a:prstGeom prst="roundRect">
            <a:avLst>
              <a:gd name="adj" fmla="val 10000"/>
            </a:avLst>
          </a:prstGeom>
          <a:solidFill>
            <a:srgbClr val="E9EEF7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736592"/>
            <a:ext cx="4901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Arial"/>
              </a:rPr>
              <a:t>AI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92624"/>
            <a:ext cx="4901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75569"/>
                </a:solidFill>
                <a:latin typeface="Arial"/>
              </a:rPr>
              <a:t>vazifaga qarab provayder tanlaydi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522976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522976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A4A"/>
                </a:solidFill>
                <a:latin typeface="Arial"/>
              </a:rPr>
              <a:t>Groq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6192" y="5522976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5522976"/>
            <a:ext cx="1207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A4A"/>
                </a:solidFill>
                <a:latin typeface="Arial"/>
              </a:rPr>
              <a:t>OpenRouter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52297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5229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A4A"/>
                </a:solidFill>
                <a:latin typeface="Arial"/>
              </a:rPr>
              <a:t>OpenAI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5522976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5522976"/>
            <a:ext cx="113385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A4A"/>
                </a:solidFill>
                <a:latin typeface="Arial"/>
              </a:rPr>
              <a:t>Anthropic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5776" y="552297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5522976"/>
            <a:ext cx="8778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A4A"/>
                </a:solidFill>
                <a:latin typeface="Arial"/>
              </a:rPr>
              <a:t>Gemini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67728" y="1188720"/>
            <a:ext cx="10972" cy="475488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1188720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Vazifaga alohida provayder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1444752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admissions, essay, document, general — admin panelidan deploy'siz almashtiriladi.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2121408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Kunlik kvota va byudjet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237744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bepul: 5 so'rov/kun · Premium: 60 so'rov/kun. Xarajat so'rov boshiga yoziladi.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305409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Aniq failover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0336" y="331012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zaxira faqat sozlanganda ishlaydi va javob «provider:fallback» deb belgilanadi.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398678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Kalitlar serverda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0336" y="4242816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AES-256-GCM; javobda, logda va xatoda ko'rinmaydi. Har bir so'rov audit qilinadi.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336" y="491947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AI javob yorlig'i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517550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model taklifi fakt bilan aralashmaydi; foydalanuvchi nima AI fikri ekanini ko'radi.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IKKINCHI ESHIK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640080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Telegram — asosiy kanal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O'zbekistonda o'quvchi Instagram va Telegram'da yashaydi. Bot va Mini App saytning o'z API'sini chaqiradi: bir xil hisob, bir xil qidiruv, bir xil kvota — o'quvchi yangi ilova o'rnatmaydi.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119932"/>
            <a:ext cx="68580" cy="685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19" y="2999232"/>
            <a:ext cx="58475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Eslatmalar: muddatdan 30/14/7/3/1/0 kun oldin, bitta xabar — bir marta.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490264"/>
            <a:ext cx="68580" cy="685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19" y="3369564"/>
            <a:ext cx="58475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Qidiruv va saqlanganlar bot ichida: /universities, /scholarships, /next.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60596"/>
            <a:ext cx="68580" cy="685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" y="3739896"/>
            <a:ext cx="58475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AI maslahatchi — saytdagi bilan bir xil kvota va qoidalar.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230928"/>
            <a:ext cx="68580" cy="685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" y="4110228"/>
            <a:ext cx="58475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6 xonali kod bilan saytga kirish; har bir ulanish audit qilinadi.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394960"/>
            <a:ext cx="223845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394960"/>
            <a:ext cx="223845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A4A"/>
                </a:solidFill>
                <a:latin typeface="Arial"/>
              </a:rPr>
              <a:t>1 hisob = 1 Telegram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52928" y="5394960"/>
            <a:ext cx="155740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5394960"/>
            <a:ext cx="155740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A4A"/>
                </a:solidFill>
                <a:latin typeface="Arial"/>
              </a:rPr>
              <a:t>Mini App: /tg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87184" y="749808"/>
            <a:ext cx="3200400" cy="5358384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87768" y="850392"/>
            <a:ext cx="2999232" cy="5157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87184" y="749808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87184" y="1133856"/>
            <a:ext cx="3200400" cy="1645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832103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ScholarBridge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105156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A9B8D2"/>
                </a:solidFill>
                <a:latin typeface="Arial"/>
              </a:rPr>
              <a:t>bot · @scholarbridge_bot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2" y="1536192"/>
            <a:ext cx="2048256" cy="566928"/>
          </a:xfrm>
          <a:prstGeom prst="roundRect">
            <a:avLst>
              <a:gd name="adj" fmla="val 18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1609344"/>
            <a:ext cx="1792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MITda kompyuter fanlari bo'yicha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grant bormi?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2231136"/>
            <a:ext cx="2121408" cy="749808"/>
          </a:xfrm>
          <a:prstGeom prst="roundRect">
            <a:avLst>
              <a:gd name="adj" fmla="val 16000"/>
            </a:avLst>
          </a:prstGeom>
          <a:solidFill>
            <a:srgbClr val="D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304288"/>
            <a:ext cx="18836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3 ta mos grant topdim.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Eng yaqin muddat — 12-noyabr.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Eslatma qo'shamanmi?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11312" y="3108960"/>
            <a:ext cx="2048256" cy="402336"/>
          </a:xfrm>
          <a:prstGeom prst="roundRect">
            <a:avLst>
              <a:gd name="adj" fmla="val 18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3182112"/>
            <a:ext cx="17922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Ha, iltimos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70064" y="3639312"/>
            <a:ext cx="2121408" cy="640080"/>
          </a:xfrm>
          <a:prstGeom prst="roundRect">
            <a:avLst>
              <a:gd name="adj" fmla="val 16000"/>
            </a:avLst>
          </a:prstGeom>
          <a:solidFill>
            <a:srgbClr val="D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3712463"/>
            <a:ext cx="18836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✓ Eslatma qo'shildi: 30/14/7/3/1 kun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Arial"/>
              </a:rPr>
              <a:t>oldin xabar beraman.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70064" y="4553712"/>
            <a:ext cx="28346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4645152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20">
                <a:solidFill>
                  <a:srgbClr val="7C8A9E"/>
                </a:solidFill>
                <a:latin typeface="Arial"/>
              </a:rPr>
              <a:t>BUYRUQLAR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4901184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C7293"/>
                </a:solidFill>
                <a:latin typeface="Arial"/>
              </a:rPr>
              <a:t>/next  ·  /deadlines  ·  /saved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C7293"/>
                </a:solidFill>
                <a:latin typeface="Arial"/>
              </a:rPr>
              <a:t>/advisor  ·  /applications  ·  /help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70448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A9E"/>
                </a:solidFill>
                <a:latin typeface="Arial"/>
              </a:rPr>
              <a:t>Mini App faqat web.telegram.org tomonidan ramkaga olinadi.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BIZNES MODELI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42416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Bepul boshlash, chuqurlik uchun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836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Bepul qatlam «noldan boshlash» va'dasini bajaradi; to'lov esa vaqt, hajm va chuqurlik uchun.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59152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596896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7C8A9E"/>
                </a:solidFill>
                <a:latin typeface="Arial"/>
              </a:rPr>
              <a:t>BEPUL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8529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Georgia"/>
              </a:rPr>
              <a:t>0 so'm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99923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A9E"/>
                </a:solidFill>
                <a:latin typeface="Arial"/>
              </a:rPr>
              <a:t>doimiy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3511296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43814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Arial"/>
              </a:rPr>
              <a:t>10 ta universitet va 10 ta grant saqlash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813048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7398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Arial"/>
              </a:rPr>
              <a:t>1 ta ariza ish maydoni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4114800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40416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Arial"/>
              </a:rPr>
              <a:t>Kuniga 5 ta AI so'rov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416552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34340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Arial"/>
              </a:rPr>
              <a:t>Viza amaliyoti: kuniga 2 ta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" y="471830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464515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Arial"/>
              </a:rPr>
              <a:t>Forum o'qish va kurs intro darslari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" y="5020056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19" y="494690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Arial"/>
              </a:rPr>
              <a:t>Telegram eslatmalari va o'quv reja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4568" y="2359152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176" y="2596896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8B94E"/>
                </a:solidFill>
                <a:latin typeface="Arial"/>
              </a:rPr>
              <a:t>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2834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89 000 so'm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298094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B8D2"/>
                </a:solidFill>
                <a:latin typeface="Arial"/>
              </a:rPr>
              <a:t>/ oy</a:t>
            </a:r>
          </a:p>
        </p:txBody>
      </p:sp>
      <p:sp>
        <p:nvSpPr>
          <p:cNvPr id="26" name="Oval 25"/>
          <p:cNvSpPr/>
          <p:nvPr/>
        </p:nvSpPr>
        <p:spPr>
          <a:xfrm>
            <a:off x="4855464" y="3511296"/>
            <a:ext cx="82296" cy="82296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43814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5DFEE"/>
                </a:solidFill>
                <a:latin typeface="Arial"/>
              </a:rPr>
              <a:t>Cheksiz saqlash va ariza maydonlari</a:t>
            </a:r>
          </a:p>
        </p:txBody>
      </p:sp>
      <p:sp>
        <p:nvSpPr>
          <p:cNvPr id="28" name="Oval 27"/>
          <p:cNvSpPr/>
          <p:nvPr/>
        </p:nvSpPr>
        <p:spPr>
          <a:xfrm>
            <a:off x="4855464" y="3813048"/>
            <a:ext cx="82296" cy="82296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7398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5DFEE"/>
                </a:solidFill>
                <a:latin typeface="Arial"/>
              </a:rPr>
              <a:t>SOP studiyasi va insho tekshiruvi</a:t>
            </a:r>
          </a:p>
        </p:txBody>
      </p:sp>
      <p:sp>
        <p:nvSpPr>
          <p:cNvPr id="30" name="Oval 29"/>
          <p:cNvSpPr/>
          <p:nvPr/>
        </p:nvSpPr>
        <p:spPr>
          <a:xfrm>
            <a:off x="4855464" y="4114800"/>
            <a:ext cx="82296" cy="82296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40416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5DFEE"/>
                </a:solidFill>
                <a:latin typeface="Arial"/>
              </a:rPr>
              <a:t>Kuniga 60 ta AI so'rov</a:t>
            </a:r>
          </a:p>
        </p:txBody>
      </p:sp>
      <p:sp>
        <p:nvSpPr>
          <p:cNvPr id="32" name="Oval 31"/>
          <p:cNvSpPr/>
          <p:nvPr/>
        </p:nvSpPr>
        <p:spPr>
          <a:xfrm>
            <a:off x="4855464" y="4416552"/>
            <a:ext cx="82296" cy="82296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34340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5DFEE"/>
                </a:solidFill>
                <a:latin typeface="Arial"/>
              </a:rPr>
              <a:t>To'liq kurslar va sertifikatlar</a:t>
            </a:r>
          </a:p>
        </p:txBody>
      </p:sp>
      <p:sp>
        <p:nvSpPr>
          <p:cNvPr id="34" name="Oval 33"/>
          <p:cNvSpPr/>
          <p:nvPr/>
        </p:nvSpPr>
        <p:spPr>
          <a:xfrm>
            <a:off x="4855464" y="4718304"/>
            <a:ext cx="82296" cy="82296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464515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5DFEE"/>
                </a:solidFill>
                <a:latin typeface="Arial"/>
              </a:rPr>
              <a:t>Hujjat ombori va ota-ona paneli</a:t>
            </a:r>
          </a:p>
        </p:txBody>
      </p:sp>
      <p:sp>
        <p:nvSpPr>
          <p:cNvPr id="36" name="Oval 35"/>
          <p:cNvSpPr/>
          <p:nvPr/>
        </p:nvSpPr>
        <p:spPr>
          <a:xfrm>
            <a:off x="4855464" y="5020056"/>
            <a:ext cx="82296" cy="82296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494690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5DFEE"/>
                </a:solidFill>
                <a:latin typeface="Arial"/>
              </a:rPr>
              <a:t>Forumda yozish, cheksiz viza amaliyoti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30767" y="2359152"/>
            <a:ext cx="3102559" cy="2926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05088" y="2596896"/>
            <a:ext cx="25539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7C8A9E"/>
                </a:solidFill>
                <a:latin typeface="Arial"/>
              </a:rPr>
              <a:t>TO'LOV REJALARI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29626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569"/>
                </a:solidFill>
                <a:latin typeface="Arial"/>
              </a:rPr>
              <a:t>30 kun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962656"/>
            <a:ext cx="2023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Arial"/>
              </a:rPr>
              <a:t>89 000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05088" y="3273552"/>
            <a:ext cx="2553919" cy="10972"/>
          </a:xfrm>
          <a:prstGeom prst="rect">
            <a:avLst/>
          </a:prstGeom>
          <a:solidFill>
            <a:srgbClr val="D8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05088" y="34198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569"/>
                </a:solidFill>
                <a:latin typeface="Arial"/>
              </a:rPr>
              <a:t>90 kun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3419856"/>
            <a:ext cx="2023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Arial"/>
              </a:rPr>
              <a:t>219 000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05088" y="3730752"/>
            <a:ext cx="2553919" cy="10972"/>
          </a:xfrm>
          <a:prstGeom prst="rect">
            <a:avLst/>
          </a:prstGeom>
          <a:solidFill>
            <a:srgbClr val="D8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05088" y="38770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75569"/>
                </a:solidFill>
                <a:latin typeface="Arial"/>
              </a:rPr>
              <a:t>365 kun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3877056"/>
            <a:ext cx="2023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Arial"/>
              </a:rPr>
              <a:t>999 000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05088" y="4187952"/>
            <a:ext cx="2553919" cy="10972"/>
          </a:xfrm>
          <a:prstGeom prst="rect">
            <a:avLst/>
          </a:prstGeom>
          <a:solidFill>
            <a:srgbClr val="D8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05088" y="4370832"/>
            <a:ext cx="2553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75569"/>
                </a:solidFill>
                <a:latin typeface="Arial"/>
              </a:rPr>
              <a:t>Payme va Click (UZS), webhook bilan tasdiqlanadi. Yillik reja oyiga ~83 000 so'mga tushadi.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468112"/>
            <a:ext cx="10874959" cy="6949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" y="55595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~90%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19072" y="5596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Premium marjasi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66744" y="55595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16552" y="5596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to'lov rejasi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55595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4032" y="5596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referal = 30 kun Premium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61704" y="55595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11512" y="5596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to'lov usuli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campus_cambridge.jpg"/>
          <p:cNvPicPr>
            <a:picLocks noChangeAspect="1"/>
          </p:cNvPicPr>
          <p:nvPr/>
        </p:nvPicPr>
        <p:blipFill>
          <a:blip r:embed="rId2"/>
          <a:srcRect l="30307" r="30307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B2A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49056" y="50292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8EEF7"/>
                </a:solidFill>
                <a:latin typeface="Arial"/>
              </a:rPr>
              <a:t>Kembrij universiteti — katalogdagi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8EEF7"/>
                </a:solidFill>
                <a:latin typeface="Arial"/>
              </a:rPr>
              <a:t>200 universitetdan biri (QS #6).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E8B94E"/>
                </a:solidFill>
                <a:latin typeface="Arial"/>
              </a:rPr>
              <a:t>BOZOR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97280"/>
            <a:ext cx="7498079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Katta va tizimli bozor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9D5E6"/>
                </a:solidFill>
                <a:latin typeface="Arial"/>
              </a:rPr>
              <a:t>Talab ixtiyoriy emas: har yili o'n minglab oila bu qarorni qabul qiladi va buning uchun pul to'laydi.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24912"/>
            <a:ext cx="2231136" cy="2395728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5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7121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E8B94E"/>
                </a:solidFill>
                <a:latin typeface="Arial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eorgia"/>
              </a:rPr>
              <a:t>6–7 mln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21024"/>
            <a:ext cx="1828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dunyo bo'ylab xalqaro talabalar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22452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3A4BF"/>
                </a:solidFill>
                <a:latin typeface="Arial"/>
              </a:rPr>
              <a:t>Global mobil talabalar soni (UNESCO UIS, taxminiy).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2724912"/>
            <a:ext cx="2231136" cy="2395728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5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5264" y="287121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E8B94E"/>
                </a:solidFill>
                <a:latin typeface="Arial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4" y="3145536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eorgia"/>
              </a:rPr>
              <a:t>~320 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3621024"/>
            <a:ext cx="1828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Markaziy Osiyodan chet elda tahsil olayotganlar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422452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3A4BF"/>
                </a:solidFill>
                <a:latin typeface="Arial"/>
              </a:rPr>
              <a:t>UZ, QZ, KG, TJ, TM bo'yicha taxminiy yig'indi.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3248" y="2724912"/>
            <a:ext cx="2231136" cy="2395728"/>
          </a:xfrm>
          <a:prstGeom prst="roundRect">
            <a:avLst>
              <a:gd name="adj" fmla="val 7000"/>
            </a:avLst>
          </a:prstGeom>
          <a:solidFill>
            <a:srgbClr val="22365E"/>
          </a:solidFill>
          <a:ln w="12700">
            <a:solidFill>
              <a:srgbClr val="35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2704" y="287121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E8B94E"/>
                </a:solidFill>
                <a:latin typeface="Arial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2704" y="3145536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eorgia"/>
              </a:rPr>
              <a:t>10 000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2704" y="3621024"/>
            <a:ext cx="1828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to'lovchi — 3 yillik maqsad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2704" y="422452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3A4BF"/>
                </a:solidFill>
                <a:latin typeface="Arial"/>
              </a:rPr>
              <a:t>10 000 × 89 000 so'm × 12 ≈ 10,7 mlrd so'm ARR (yillik reja bilan).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413248"/>
            <a:ext cx="7223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5DFEE"/>
                </a:solidFill>
                <a:latin typeface="Arial"/>
              </a:rPr>
              <a:t>100 000+ o'zbek talabasi xorijda  ·  har yili 20–38 ming yangi  ·  hozirgi tashrifchilarning 87% i — O'zbekistondan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08990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Manbalar: UNESCO UIS; O'zbekiston Respublikasi statistika qo'mitasi (2025). TAM/SAM — uchinchi tomon taxminlari, ichki o'lchov emas.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33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9EB6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9EB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TRAKSIYA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9875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Birinchi haqiqiy signallar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Yopiq test davri: 2026-yil 13-sentyabrdan. Raqamlar kichik, lekin haqiqiy — saytning o'z analitikasidan olingan.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2395728"/>
          <a:ext cx="5943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39496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A9E"/>
                </a:solidFill>
                <a:latin typeface="Arial"/>
              </a:rPr>
              <a:t>Haftalik sessiyalar (sayt analitikasi)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11696" y="2359152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2505456"/>
            <a:ext cx="1828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Georgia"/>
              </a:rPr>
              <a:t>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298094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A9E"/>
                </a:solidFill>
                <a:latin typeface="Arial"/>
              </a:rPr>
              <a:t>unikal tashrifchi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359152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3456" y="2505456"/>
            <a:ext cx="1828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Georgia"/>
              </a:rPr>
              <a:t>1 564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3456" y="298094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A9E"/>
                </a:solidFill>
                <a:latin typeface="Arial"/>
              </a:rPr>
              <a:t>sessiya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1696" y="3639312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3785615"/>
            <a:ext cx="1828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A4A"/>
                </a:solidFill>
                <a:latin typeface="Georgia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426110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A9E"/>
                </a:solidFill>
                <a:latin typeface="Arial"/>
              </a:rPr>
              <a:t>ro'yxatdan o'tgan profil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639312"/>
            <a:ext cx="2267712" cy="10789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6" y="3785615"/>
            <a:ext cx="1828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8A6B"/>
                </a:solidFill>
                <a:latin typeface="Georgia"/>
              </a:rPr>
              <a:t>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426110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A9E"/>
                </a:solidFill>
                <a:latin typeface="Arial"/>
              </a:rPr>
              <a:t>tashrif — O'zbekistondan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650992"/>
            <a:ext cx="10874959" cy="603504"/>
          </a:xfrm>
          <a:prstGeom prst="roundRect">
            <a:avLst>
              <a:gd name="adj" fmla="val 22000"/>
            </a:avLst>
          </a:prstGeom>
          <a:solidFill>
            <a:srgbClr val="FBF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70585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8A661B"/>
                </a:solidFill>
                <a:latin typeface="Arial"/>
              </a:rPr>
              <a:t>ISBOTLANDI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907024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0F172A"/>
                </a:solidFill>
                <a:latin typeface="Arial"/>
              </a:rPr>
              <a:t>Mahsulot ishlaydi va odamlar qaytadi — haftasiga 300+ sessiya.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5760720"/>
            <a:ext cx="10972" cy="384048"/>
          </a:xfrm>
          <a:prstGeom prst="rect">
            <a:avLst/>
          </a:prstGeom>
          <a:solidFill>
            <a:srgbClr val="E2C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70585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8A661B"/>
                </a:solidFill>
                <a:latin typeface="Arial"/>
              </a:rPr>
              <a:t>ISBOTLANMAGAN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907024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0F172A"/>
                </a:solidFill>
                <a:latin typeface="Arial"/>
              </a:rPr>
              <a:t>To'lovga tayyorlik — keyingi 90 kunning asosiy vazifasi.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RAQOBAT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05840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Nima uchun biz — va nima uchun hozir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Bozorda har bir bo'lak uchun alohida vosita bor. Hech biri butun yo'lni bir joyda, o'zbek tilida va manba bilan qamramaydi.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377440"/>
          <a:ext cx="10863071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286000"/>
                <a:gridCol w="2103120"/>
                <a:gridCol w="1874519"/>
                <a:gridCol w="158191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Imkoniyat</a:t>
                      </a:r>
                    </a:p>
                  </a:txBody>
                  <a:tcPr marL="128016" marR="73152" marT="54864" marB="36576" anchor="ctr">
                    <a:solidFill>
                      <a:srgbClr val="2A3E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E8B94E"/>
                          </a:solidFill>
                          <a:latin typeface="Arial"/>
                        </a:rPr>
                        <a:t>ScholarBridgeAI</a:t>
                      </a:r>
                    </a:p>
                  </a:txBody>
                  <a:tcPr marL="128016" marR="73152" marT="54864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Konsalting agentlik</a:t>
                      </a:r>
                    </a:p>
                  </a:txBody>
                  <a:tcPr marL="128016" marR="73152" marT="54864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Grant bazalari</a:t>
                      </a:r>
                    </a:p>
                  </a:txBody>
                  <a:tcPr marL="128016" marR="73152" marT="54864" marB="36576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AI chatbot</a:t>
                      </a:r>
                    </a:p>
                  </a:txBody>
                  <a:tcPr marL="128016" marR="73152" marT="54864" marB="36576" anchor="ctr">
                    <a:solidFill>
                      <a:srgbClr val="1B2A4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Narx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89 000 so'm/oy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$500–2 000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Bepul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$20/oy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Profilga moslik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4 o'lchovli moslik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Qo'lda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Oddiy filtr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Umumiy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Manba + tekshirilgan sana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Har bir faktda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Ariza va hujjat boshqaruvi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To'liq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SOP va insho studiyasi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Bor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Bor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Viza intervyusi simulyatori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Bor (ovozli)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Telegram eslatmalari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Bor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8016" marR="73152" marT="36576" marB="36576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O'zbek va rus tili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F172A"/>
                          </a:solidFill>
                          <a:latin typeface="Arial"/>
                        </a:rPr>
                        <a:t>To'liq</a:t>
                      </a:r>
                    </a:p>
                  </a:txBody>
                  <a:tcPr marL="128016" marR="73152" marT="36576" marB="36576" anchor="ctr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Bor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7C8A9E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marL="128016" marR="73152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Bizning himoya: 2 848 programlik baza + manba madaniyati + o'zbek tilidagi to'liq yo'l. Buni nusxalash uchun mahsulotni qaytadan qurish kerak.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O'SISH REJASI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05840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Telegram-first, referal bilan o'sish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O'zbekistonda o'quvchi Instagram va Telegram'da yashaydi. Shuning uchun mahsulot o'zi tarqaladigan kanallarga qurilgan.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32304"/>
            <a:ext cx="257860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432304"/>
            <a:ext cx="45720" cy="1920240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B8A6B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21579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Telegram bot + Mini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64992"/>
            <a:ext cx="21396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Ilova o'rnatmasdan ishlaydi. Har bir eslatma — qaytish sababi.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986784"/>
            <a:ext cx="866119" cy="237744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86784"/>
            <a:ext cx="86611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rial"/>
              </a:rPr>
              <a:t>CPA ≈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432304"/>
            <a:ext cx="257860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2432304"/>
            <a:ext cx="45720" cy="19202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1" y="2596896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C7293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1" y="2834640"/>
            <a:ext cx="21579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Referal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1" y="3364992"/>
            <a:ext cx="21396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5 faol referal = 30 kun Premium. O'quvchi o'z do'stini olib keladi.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1" y="3986784"/>
            <a:ext cx="1111910" cy="237744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1" y="3986784"/>
            <a:ext cx="111191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rial"/>
              </a:rPr>
              <a:t>Viral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432304"/>
            <a:ext cx="257860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2432304"/>
            <a:ext cx="45720" cy="19202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596896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B2A4A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834640"/>
            <a:ext cx="21579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Maktab va universitetlar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364992"/>
            <a:ext cx="21396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11-sinf va 1–2-kurs guruhlari bilan bepul seminar + guruh hisobi.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3986784"/>
            <a:ext cx="702259" cy="237744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986784"/>
            <a:ext cx="7022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rial"/>
              </a:rPr>
              <a:t>B2B2C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87967" y="2432304"/>
            <a:ext cx="257860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203200" dist="50800" dir="5400000" algn="ctr" rotWithShape="0">
              <a:srgbClr val="1B2A4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7" y="2432304"/>
            <a:ext cx="45720" cy="1920240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1" y="2596896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E8B94E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1" y="2834640"/>
            <a:ext cx="21579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Kontent va 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1" y="3364992"/>
            <a:ext cx="21396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Grant kalendari, «qanday topshiraman» qo'llanmalari — uz/ru tilida.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25711" y="3986784"/>
            <a:ext cx="866119" cy="237744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1" y="3986784"/>
            <a:ext cx="86611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rial"/>
              </a:rPr>
              <a:t>Organik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626864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7C8A9E"/>
                </a:solidFill>
                <a:latin typeface="Arial"/>
              </a:rPr>
              <a:t>CONVERSION FUNNEL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937760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1C729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4937760"/>
            <a:ext cx="45720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02920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Tashrif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52669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100%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300984" y="5230368"/>
            <a:ext cx="128016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56432" y="4937760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1C729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56432" y="4937760"/>
            <a:ext cx="45720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5888" y="502920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Ro'yxatdan o'tish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5888" y="52669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Arial"/>
              </a:rPr>
              <a:t>~15%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099048" y="5230368"/>
            <a:ext cx="128016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54496" y="4937760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1B8A6B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54496" y="4937760"/>
            <a:ext cx="45720" cy="713232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502920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Faol profil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52669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8A6B"/>
                </a:solidFill>
                <a:latin typeface="Arial"/>
              </a:rPr>
              <a:t>~60%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97111" y="5230368"/>
            <a:ext cx="128016" cy="128016"/>
          </a:xfrm>
          <a:prstGeom prst="rightArrow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52560" y="4937760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E8B94E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52560" y="4937760"/>
            <a:ext cx="45720" cy="713232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72016" y="502920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rial"/>
              </a:rPr>
              <a:t>Premium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6" y="52669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94E"/>
                </a:solidFill>
                <a:latin typeface="Arial"/>
              </a:rPr>
              <a:t>8–10%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A9E"/>
                </a:solidFill>
                <a:latin typeface="Arial"/>
              </a:rPr>
              <a:t>Hozirgi testdagi ro'yxatdan o'tish darajasi ~15% — kichik tanlanma, lekin mahsulotning birinchi tabiiy signali.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E8B94E"/>
                </a:solidFill>
                <a:latin typeface="Arial"/>
              </a:rPr>
              <a:t>KEYINGI 90 KUN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877824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Reja: gipotezani isbotlash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9D5E6"/>
                </a:solidFill>
                <a:latin typeface="Arial"/>
              </a:rPr>
              <a:t>Mahsulot qurilgan. Endi savol «ishlaydimi?» emas — «to'laydimi?».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15184"/>
            <a:ext cx="3493008" cy="2743200"/>
          </a:xfrm>
          <a:prstGeom prst="roundRect">
            <a:avLst>
              <a:gd name="adj" fmla="val 6000"/>
            </a:avLst>
          </a:prstGeom>
          <a:solidFill>
            <a:srgbClr val="22365E"/>
          </a:solidFill>
          <a:ln w="12700">
            <a:solidFill>
              <a:srgbClr val="35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615184"/>
            <a:ext cx="3493008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797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1C7293"/>
                </a:solidFill>
                <a:latin typeface="Arial"/>
              </a:rPr>
              <a:t>0–30 KUN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5409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Ochiq 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3566160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3493008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Sayt va botni ochiq ro'yxatdan o'tishga ochish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4133087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4059935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1 000 ro'yxatdan o'tgan foydalanuvchi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4700016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626864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Onboardingni 5 qadamga qisqartirish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615184"/>
            <a:ext cx="3493008" cy="2743200"/>
          </a:xfrm>
          <a:prstGeom prst="roundRect">
            <a:avLst>
              <a:gd name="adj" fmla="val 6000"/>
            </a:avLst>
          </a:prstGeom>
          <a:solidFill>
            <a:srgbClr val="22365E"/>
          </a:solidFill>
          <a:ln w="12700">
            <a:solidFill>
              <a:srgbClr val="35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2615184"/>
            <a:ext cx="3493008" cy="45720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7797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E8B94E"/>
                </a:solidFill>
                <a:latin typeface="Arial"/>
              </a:rPr>
              <a:t>30–60 KUN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05409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Birinchi daromad</a:t>
            </a:r>
          </a:p>
        </p:txBody>
      </p:sp>
      <p:sp>
        <p:nvSpPr>
          <p:cNvPr id="21" name="Oval 20"/>
          <p:cNvSpPr/>
          <p:nvPr/>
        </p:nvSpPr>
        <p:spPr>
          <a:xfrm>
            <a:off x="4608576" y="3566160"/>
            <a:ext cx="73152" cy="73152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3493008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Birinchi 100 to'lovchi (Payme/Click)</a:t>
            </a:r>
          </a:p>
        </p:txBody>
      </p:sp>
      <p:sp>
        <p:nvSpPr>
          <p:cNvPr id="23" name="Oval 22"/>
          <p:cNvSpPr/>
          <p:nvPr/>
        </p:nvSpPr>
        <p:spPr>
          <a:xfrm>
            <a:off x="4608576" y="4133087"/>
            <a:ext cx="73152" cy="73152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4059935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Premium devorini A/B test qilish</a:t>
            </a:r>
          </a:p>
        </p:txBody>
      </p:sp>
      <p:sp>
        <p:nvSpPr>
          <p:cNvPr id="25" name="Oval 24"/>
          <p:cNvSpPr/>
          <p:nvPr/>
        </p:nvSpPr>
        <p:spPr>
          <a:xfrm>
            <a:off x="4608576" y="4700016"/>
            <a:ext cx="73152" cy="73152"/>
          </a:xfrm>
          <a:prstGeom prst="ellipse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4626864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Eslatma kanallarini optimallashtirish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7" y="2615184"/>
            <a:ext cx="3493008" cy="2743200"/>
          </a:xfrm>
          <a:prstGeom prst="roundRect">
            <a:avLst>
              <a:gd name="adj" fmla="val 6000"/>
            </a:avLst>
          </a:prstGeom>
          <a:solidFill>
            <a:srgbClr val="22365E"/>
          </a:solidFill>
          <a:ln w="12700">
            <a:solidFill>
              <a:srgbClr val="35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7" y="2615184"/>
            <a:ext cx="3493008" cy="45720"/>
          </a:xfrm>
          <a:prstGeom prst="rect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27797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1B8A6B"/>
                </a:solidFill>
                <a:latin typeface="Arial"/>
              </a:rPr>
              <a:t>60–90 KUN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05409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Kontent va hamkorlik</a:t>
            </a:r>
          </a:p>
        </p:txBody>
      </p:sp>
      <p:sp>
        <p:nvSpPr>
          <p:cNvPr id="31" name="Oval 30"/>
          <p:cNvSpPr/>
          <p:nvPr/>
        </p:nvSpPr>
        <p:spPr>
          <a:xfrm>
            <a:off x="8266175" y="3566160"/>
            <a:ext cx="73152" cy="73152"/>
          </a:xfrm>
          <a:prstGeom prst="ellipse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7343" y="3493008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3 universitet va 5 mentor bilan hamkorlik</a:t>
            </a:r>
          </a:p>
        </p:txBody>
      </p:sp>
      <p:sp>
        <p:nvSpPr>
          <p:cNvPr id="33" name="Oval 32"/>
          <p:cNvSpPr/>
          <p:nvPr/>
        </p:nvSpPr>
        <p:spPr>
          <a:xfrm>
            <a:off x="8266175" y="4133087"/>
            <a:ext cx="73152" cy="73152"/>
          </a:xfrm>
          <a:prstGeom prst="ellipse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3" y="4059935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Grant kalendari (uz/ru) — SEO motor</a:t>
            </a:r>
          </a:p>
        </p:txBody>
      </p:sp>
      <p:sp>
        <p:nvSpPr>
          <p:cNvPr id="35" name="Oval 34"/>
          <p:cNvSpPr/>
          <p:nvPr/>
        </p:nvSpPr>
        <p:spPr>
          <a:xfrm>
            <a:off x="8266175" y="4700016"/>
            <a:ext cx="73152" cy="73152"/>
          </a:xfrm>
          <a:prstGeom prst="ellipse">
            <a:avLst/>
          </a:prstGeom>
          <a:solidFill>
            <a:srgbClr val="1B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7343" y="4626864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9D5E6"/>
                </a:solidFill>
                <a:latin typeface="Arial"/>
              </a:rPr>
              <a:t>40% oylik qaytish (retention)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96128"/>
            <a:ext cx="10874959" cy="786384"/>
          </a:xfrm>
          <a:prstGeom prst="roundRect">
            <a:avLst>
              <a:gd name="adj" fmla="val 20000"/>
            </a:avLst>
          </a:prstGeom>
          <a:solidFill>
            <a:srgbClr val="24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66928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E8B94E"/>
                </a:solidFill>
                <a:latin typeface="Arial"/>
              </a:rPr>
              <a:t>MUVAFFAQIYAT MEZONI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588873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1 000 ro'yxatdan o'tgan  ·  100 to'lovchi  ·  40% oylik qaytish  ·  birinchi 3 ta hamkorlik shartnomasi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33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9EB6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9EB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1C7293"/>
                </a:solidFill>
                <a:latin typeface="Arial"/>
              </a:rPr>
              <a:t>NIMA UCHUN BIZ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F172A"/>
                </a:solidFill>
                <a:latin typeface="Georgia"/>
              </a:rPr>
              <a:t>Mahsulot allaqachon qurilgan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Bu slaydda va'da yo'q — faqat tekshirsa bo'ladigan faktlar. Ko'p raqobatchilar shu bosqichda hali prototipda.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432304"/>
            <a:ext cx="274320" cy="274320"/>
          </a:xfrm>
          <a:prstGeom prst="ellipse">
            <a:avLst/>
          </a:prstGeom>
          <a:solidFill>
            <a:srgbClr val="E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41448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8A6B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957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98 jadval · 2 848 program · 3 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70048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PostgreSQL sxemasi, en/uz/ru tarjimalar, 16 bo'lim — production'da.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182112"/>
            <a:ext cx="274320" cy="274320"/>
          </a:xfrm>
          <a:prstGeom prst="ellipse">
            <a:avLst/>
          </a:prstGeom>
          <a:solidFill>
            <a:srgbClr val="E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19125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8A6B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50+ avtomatik test to'plami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419856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Moslik, to'lov, xavfsizlik, Telegram va i18n uchun regressiya testlari.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931920"/>
            <a:ext cx="274320" cy="274320"/>
          </a:xfrm>
          <a:prstGeom prst="ellipse">
            <a:avLst/>
          </a:prstGeom>
          <a:solidFill>
            <a:srgbClr val="E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941063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8A6B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89534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To'lov integratsiyasi tayyor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169663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Payme JSON-RPC va Click ikki bosqichli callback — webhook bilan.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681728"/>
            <a:ext cx="274320" cy="274320"/>
          </a:xfrm>
          <a:prstGeom prst="ellipse">
            <a:avLst/>
          </a:prstGeom>
          <a:solidFill>
            <a:srgbClr val="E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690872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8A6B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6451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Telegram bot + Mini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919472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Sayt API'sini chaqiradi: bir xil hisob, bir xil qoidalar, alohida kod bazasi yo'q.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5431536"/>
            <a:ext cx="274320" cy="274320"/>
          </a:xfrm>
          <a:prstGeom prst="ellipse">
            <a:avLst/>
          </a:prstGeom>
          <a:solidFill>
            <a:srgbClr val="E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406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8A6B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39496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Past infrastruktura xarajati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669280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Bitta Node host + PostgreSQL; AI xarajati so'rov boshiga hisoblanadi.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44383" y="2286000"/>
            <a:ext cx="3888943" cy="35661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46888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7C8A9E"/>
                </a:solidFill>
                <a:latin typeface="Arial"/>
              </a:rPr>
              <a:t>JAMOA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724912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Asoschi + mahsulot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muhandisligi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401568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75569"/>
                </a:solidFill>
                <a:latin typeface="Arial"/>
              </a:rPr>
              <a:t>Mahsulotning to'liq sikli — dizayn, backend, AI, to'lov va infratuzilma — bir qo'lda qurilgan.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261104"/>
            <a:ext cx="3291840" cy="10972"/>
          </a:xfrm>
          <a:prstGeom prst="rect">
            <a:avLst/>
          </a:prstGeom>
          <a:solidFill>
            <a:srgbClr val="DB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7C8A9E"/>
                </a:solidFill>
                <a:latin typeface="Arial"/>
              </a:rPr>
              <a:t>90 kun ichida qo'shiladi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663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·  1 backend / frontend muhandis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7433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·  1 o'sish (growth) menejeri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285231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rial"/>
              </a:rPr>
              <a:t>·  Mentorlar tarmog'i (12 ta ro'yxatda)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858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ScholarBridgeAI  ·  Pitch deck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A9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campus_stanford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E8B94E"/>
                </a:solidFill>
                <a:latin typeface="Arial"/>
              </a:rPr>
              <a:t>SO'ROV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475488" cy="41148"/>
          </a:xfrm>
          <a:prstGeom prst="rect">
            <a:avLst/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097280"/>
            <a:ext cx="822960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Pre-seed: 12 oylik runway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D5E6"/>
                </a:solidFill>
                <a:latin typeface="Arial"/>
              </a:rPr>
              <a:t>Maqsad — O'zbekistonda to'lov modelini isbotlash va keyingi bozorga chiqish uchun poydevor.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Arial"/>
              </a:rPr>
              <a:t>Mahsulot va muhandislik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56032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C7293"/>
                </a:solidFill>
                <a:latin typeface="Arial"/>
              </a:rP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34639"/>
            <a:ext cx="4023360" cy="91440"/>
          </a:xfrm>
          <a:prstGeom prst="roundRect">
            <a:avLst>
              <a:gd name="adj" fmla="val 50000"/>
            </a:avLst>
          </a:prstGeom>
          <a:solidFill>
            <a:srgbClr val="33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834639"/>
            <a:ext cx="1609344" cy="914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45536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Arial"/>
              </a:rPr>
              <a:t>O'sish va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314553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E8B94E"/>
                </a:solidFill>
                <a:latin typeface="Arial"/>
              </a:rPr>
              <a:t>25%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19856"/>
            <a:ext cx="4023360" cy="91440"/>
          </a:xfrm>
          <a:prstGeom prst="roundRect">
            <a:avLst>
              <a:gd name="adj" fmla="val 50000"/>
            </a:avLst>
          </a:prstGeom>
          <a:solidFill>
            <a:srgbClr val="33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419856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E8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3075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Arial"/>
              </a:rPr>
              <a:t>Kontent va mentorlar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3730752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7FB2C8"/>
                </a:solidFill>
                <a:latin typeface="Arial"/>
              </a:rPr>
              <a:t>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05072"/>
            <a:ext cx="4023360" cy="91440"/>
          </a:xfrm>
          <a:prstGeom prst="roundRect">
            <a:avLst>
              <a:gd name="adj" fmla="val 50000"/>
            </a:avLst>
          </a:prstGeom>
          <a:solidFill>
            <a:srgbClr val="33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005072"/>
            <a:ext cx="804672" cy="91440"/>
          </a:xfrm>
          <a:prstGeom prst="roundRect">
            <a:avLst>
              <a:gd name="adj" fmla="val 50000"/>
            </a:avLst>
          </a:prstGeom>
          <a:solidFill>
            <a:srgbClr val="7F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15968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Arial"/>
              </a:rPr>
              <a:t>Operatsiya va huquqiy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431596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EA3C4"/>
                </a:solidFill>
                <a:latin typeface="Arial"/>
              </a:rPr>
              <a:t>15%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0288"/>
            <a:ext cx="4023360" cy="91440"/>
          </a:xfrm>
          <a:prstGeom prst="roundRect">
            <a:avLst>
              <a:gd name="adj" fmla="val 50000"/>
            </a:avLst>
          </a:prstGeom>
          <a:solidFill>
            <a:srgbClr val="33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590288"/>
            <a:ext cx="603504" cy="91440"/>
          </a:xfrm>
          <a:prstGeom prst="roundRect">
            <a:avLst>
              <a:gd name="adj" fmla="val 50000"/>
            </a:avLst>
          </a:prstGeom>
          <a:solidFill>
            <a:srgbClr val="8E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F"/>
                </a:solidFill>
                <a:latin typeface="Arial"/>
              </a:rPr>
              <a:t>Summa va shartlar — ochiq muhokama.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53328" y="2468880"/>
            <a:ext cx="5479999" cy="329184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65176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E8B94E"/>
                </a:solidFill>
                <a:latin typeface="Arial"/>
              </a:rPr>
              <a:t>12 OYDAN KEYIN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62656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25 000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3832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B9C7DC"/>
                </a:solidFill>
                <a:latin typeface="Arial"/>
              </a:rPr>
              <a:t>ro'yxatdan o'tgan foydalanuvchi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962656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1 500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33832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B9C7DC"/>
                </a:solidFill>
                <a:latin typeface="Arial"/>
              </a:rPr>
              <a:t>to'lovchi Premium obunachi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261104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~1,6 mlrd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68172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B9C7DC"/>
                </a:solidFill>
                <a:latin typeface="Arial"/>
              </a:rPr>
              <a:t>so'm yillik daromad (ARR)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4261104"/>
            <a:ext cx="2377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468172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B9C7DC"/>
                </a:solidFill>
                <a:latin typeface="Arial"/>
              </a:rPr>
              <a:t>bozor: UZ, QZ, 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413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D5DFEE"/>
                </a:solidFill>
                <a:latin typeface="Georgia"/>
              </a:rPr>
              <a:t>«Chet elda o'qish — orzu emas, reja.»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9618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F"/>
                </a:solidFill>
                <a:latin typeface="Arial"/>
              </a:rPr>
              <a:t>ScholarBridgeAI  · 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5961888"/>
            <a:ext cx="5479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4BF"/>
                </a:solidFill>
                <a:latin typeface="Arial"/>
              </a:rPr>
              <a:t>Aloqa:  email@domen.uz  ·  @telegram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ScholarBridgeAI — Pitch Deck 2026</dc:title>
  <dc:subject>AI asosidagi chet elda ta'lim platformasi — O'zbekiston va Markaziy Osiyo</dc:subject>
  <dc:creator>ScholarBridgeAI</dc:creator>
  <cp:keywords>pitch deck, edtech, AI, Uzbekistan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